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MovieMind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Movie Review Analytics System</a:t>
            </a:r>
          </a:p>
          <a:p/>
          <a:p>
            <a:r>
              <a:t>Lara, Michele, Daniele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analyze movie reviews?</a:t>
            </a:r>
          </a:p>
          <a:p>
            <a:pPr lvl="1"/>
            <a:r>
              <a:t>• Streaming platforms receive thousands of reviews daily</a:t>
            </a:r>
          </a:p>
          <a:p>
            <a:pPr lvl="1"/>
            <a:r>
              <a:t>• $300B+ global streaming market</a:t>
            </a:r>
          </a:p>
          <a:p>
            <a:pPr lvl="1"/>
            <a:r>
              <a:t>• Early sentiment detection saves millions in marketing costs</a:t>
            </a:r>
          </a:p>
          <a:p>
            <a:pPr lvl="1"/>
            <a:r>
              <a:t>• Studios need automated, consistent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complete analytics pipeline transforming reviews into insights</a:t>
            </a:r>
          </a:p>
          <a:p/>
          <a:p>
            <a:pPr/>
            <a:r>
              <a:t>1. Can sentiment be accurately classified? (Positive/Neutral/Negative)</a:t>
            </a:r>
          </a:p>
          <a:p>
            <a:pPr/>
            <a:r>
              <a:t>2. Can we predict movie ratings (0-10) from review text?</a:t>
            </a:r>
          </a:p>
          <a:p>
            <a:pPr/>
            <a:r>
              <a:t>3. What patterns exist across genres and time?</a:t>
            </a:r>
          </a:p>
          <a:p>
            <a:pPr/>
            <a:r>
              <a:t>4. How do movies cluster based on audience reactions?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Source: TMDb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Movie Database - Industry Standard</a:t>
            </a:r>
          </a:p>
          <a:p>
            <a:pPr lvl="1"/>
            <a:r>
              <a:t>• 847 movies collected</a:t>
            </a:r>
          </a:p>
          <a:p>
            <a:pPr lvl="1"/>
            <a:r>
              <a:t>• 4,521 user reviews</a:t>
            </a:r>
          </a:p>
          <a:p>
            <a:pPr lvl="1"/>
            <a:r>
              <a:t>• Metadata: title, genre, runtime, budget, revenue</a:t>
            </a:r>
          </a:p>
          <a:p>
            <a:pPr lvl="1"/>
            <a:r>
              <a:t>• Reviews: content, author, rating, date</a:t>
            </a:r>
          </a:p>
          <a:p>
            <a:pPr lvl="1"/>
            <a:r>
              <a:t>• Strategy: Mixed (popular + top-rated films)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PostgreSQL Database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Enterprise-grade database system</a:t>
            </a:r>
          </a:p>
          <a:p/>
          <a:p>
            <a:pPr/>
            <a:r>
              <a:t>Tables: Movies, Reviews, Countries</a:t>
            </a:r>
          </a:p>
          <a:p/>
          <a:p>
            <a:pPr>
              <a:defRPr b="1"/>
            </a:pPr>
            <a:r>
              <a:t>Optimizations:</a:t>
            </a:r>
          </a:p>
          <a:p>
            <a:pPr lvl="1"/>
            <a:r>
              <a:t>• GIN indexes for genre arrays</a:t>
            </a:r>
          </a:p>
          <a:p>
            <a:pPr lvl="1"/>
            <a:r>
              <a:t>• Three SQL Views for analytics:</a:t>
            </a:r>
          </a:p>
          <a:p>
            <a:pPr lvl="2"/>
            <a:r>
              <a:t>- movie_review_stats</a:t>
            </a:r>
          </a:p>
          <a:p>
            <a:pPr lvl="2"/>
            <a:r>
              <a:t>- genre_sentiment_analysis</a:t>
            </a:r>
          </a:p>
          <a:p>
            <a:pPr lvl="2"/>
            <a:r>
              <a:t>- temporal_sentiment_trends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Pipeline: Text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7-Step Processing Pipeline:</a:t>
            </a:r>
          </a:p>
          <a:p>
            <a:pPr/>
            <a:r>
              <a:t>1. Remove HTML tags (BeautifulSoup)</a:t>
            </a:r>
          </a:p>
          <a:p>
            <a:pPr/>
            <a:r>
              <a:t>2. Remove URLs (Regex)</a:t>
            </a:r>
          </a:p>
          <a:p>
            <a:pPr/>
            <a:r>
              <a:t>3. Convert to lowercase</a:t>
            </a:r>
          </a:p>
          <a:p>
            <a:pPr/>
            <a:r>
              <a:t>4. Remove special characters</a:t>
            </a:r>
          </a:p>
          <a:p>
            <a:pPr/>
            <a:r>
              <a:t>5. Tokenization (NLTK)</a:t>
            </a:r>
          </a:p>
          <a:p>
            <a:pPr/>
            <a:r>
              <a:t>6. Remove stopwords</a:t>
            </a:r>
          </a:p>
          <a:p>
            <a:pPr/>
            <a:r>
              <a:t>7. Lemmatization (base forms)</a:t>
            </a:r>
          </a:p>
          <a:p/>
          <a:p>
            <a:pPr/>
            <a:r>
              <a:t>Feature extraction: text_length, word_count, sentence_count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Three-Model Architecture:</a:t>
            </a:r>
          </a:p>
          <a:p/>
          <a:p>
            <a:pPr>
              <a:defRPr b="1"/>
            </a:pPr>
            <a:r>
              <a:t>1. Sentiment Classification</a:t>
            </a:r>
          </a:p>
          <a:p>
            <a:pPr lvl="1"/>
            <a:r>
              <a:t>• Logistic Regression + TF-IDF</a:t>
            </a:r>
          </a:p>
          <a:p>
            <a:pPr lvl="1"/>
            <a:r>
              <a:t>• 5000 features (unigrams + bigrams)</a:t>
            </a:r>
          </a:p>
          <a:p/>
          <a:p>
            <a:pPr>
              <a:defRPr b="1"/>
            </a:pPr>
            <a:r>
              <a:t>2. Score Prediction</a:t>
            </a:r>
          </a:p>
          <a:p>
            <a:pPr lvl="1"/>
            <a:r>
              <a:t>• Ridge Regression (L2 regularization)</a:t>
            </a:r>
          </a:p>
          <a:p>
            <a:pPr lvl="1"/>
            <a:r>
              <a:t>• TF-IDF + metadata features</a:t>
            </a:r>
          </a:p>
          <a:p/>
          <a:p>
            <a:pPr>
              <a:defRPr b="1"/>
            </a:pPr>
            <a:r>
              <a:t>3. Clustering</a:t>
            </a:r>
          </a:p>
          <a:p>
            <a:pPr lvl="1"/>
            <a:r>
              <a:t>• K-Means (Elbow method + Silhouette score)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Statistical Tests with P-Values:</a:t>
            </a:r>
          </a:p>
          <a:p/>
          <a:p>
            <a:pPr>
              <a:defRPr b="1"/>
            </a:pPr>
            <a:r>
              <a:t>Chi-Squared Test (Genre vs Rating)</a:t>
            </a:r>
          </a:p>
          <a:p>
            <a:pPr lvl="1"/>
            <a:r>
              <a:t>• χ² = 45.23, p &lt; 0.001 ✓</a:t>
            </a:r>
          </a:p>
          <a:p>
            <a:pPr lvl="1"/>
            <a:r>
              <a:t>• Genres systematically differ in ratings</a:t>
            </a:r>
          </a:p>
          <a:p/>
          <a:p>
            <a:pPr>
              <a:defRPr b="1"/>
            </a:pPr>
            <a:r>
              <a:t>ANOVA (Rating across genres)</a:t>
            </a:r>
          </a:p>
          <a:p>
            <a:pPr lvl="1"/>
            <a:r>
              <a:t>• F = 18.47, p &lt; 0.001 ✓</a:t>
            </a:r>
          </a:p>
          <a:p>
            <a:pPr lvl="1"/>
            <a:r>
              <a:t>• Drama &amp; Thriller significantly higher</a:t>
            </a:r>
          </a:p>
          <a:p/>
          <a:p>
            <a:pPr>
              <a:defRPr b="1"/>
            </a:pPr>
            <a:r>
              <a:t>Pearson Correlation (Runtime vs Rating)</a:t>
            </a:r>
          </a:p>
          <a:p>
            <a:pPr lvl="1"/>
            <a:r>
              <a:t>• r = 0.23, p &lt; 0.001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Sentiment Classifier Performance:</a:t>
            </a:r>
          </a:p>
          <a:p/>
          <a:p>
            <a:pPr>
              <a:defRPr sz="2400" b="1"/>
            </a:pPr>
            <a:r>
              <a:t>• Overall Accuracy: 82.3%</a:t>
            </a:r>
          </a:p>
          <a:p>
            <a:pPr>
              <a:defRPr sz="2400" b="1"/>
            </a:pPr>
            <a:r>
              <a:t>• Precision (Positive): 88.4%</a:t>
            </a:r>
          </a:p>
          <a:p>
            <a:pPr>
              <a:defRPr sz="2400" b="1"/>
            </a:pPr>
            <a:r>
              <a:t>• Recall (Positive): 91.2%</a:t>
            </a:r>
          </a:p>
          <a:p>
            <a:pPr>
              <a:defRPr sz="2400" b="1"/>
            </a:pPr>
            <a:r>
              <a:t>• F1-Score (Weighted): 0.821</a:t>
            </a:r>
          </a:p>
          <a:p/>
          <a:p>
            <a:pPr/>
            <a:r>
              <a:t>✓ Positive class detected with &gt;90% accuracy</a:t>
            </a:r>
          </a:p>
          <a:p>
            <a:pPr/>
            <a:r>
              <a:t>✓ Class weighting handles imbalanced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Score Prediction Performance:</a:t>
            </a:r>
          </a:p>
          <a:p/>
          <a:p>
            <a:pPr>
              <a:defRPr b="1"/>
            </a:pPr>
            <a:r>
              <a:t>• R² = 0.64 (explains 64% of variance)</a:t>
            </a:r>
          </a:p>
          <a:p>
            <a:pPr>
              <a:defRPr b="1"/>
            </a:pPr>
            <a:r>
              <a:t>• RMSE = 1.18 (±1.2 points on 0-10 scale)</a:t>
            </a:r>
          </a:p>
          <a:p>
            <a:pPr>
              <a:defRPr b="1"/>
            </a:pPr>
            <a:r>
              <a:t>• MAE = 0.87 (median error &lt;1 point)</a:t>
            </a:r>
          </a:p>
          <a:p/>
          <a:p>
            <a:pPr/>
            <a:r>
              <a:t>Feature Importance:</a:t>
            </a:r>
          </a:p>
          <a:p>
            <a:pPr lvl="1"/>
            <a:r>
              <a:t>Positive: brilliant, masterpiece, excellent, stunning</a:t>
            </a:r>
          </a:p>
          <a:p>
            <a:pPr lvl="1"/>
            <a:r>
              <a:t>Negative: waste, boring, awful, disappointing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Clustering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Optimal k = 5 (Elbow method)</a:t>
            </a:r>
          </a:p>
          <a:p>
            <a:pPr>
              <a:defRPr b="1"/>
            </a:pPr>
            <a:r>
              <a:t>Silhouette Score = 0.68 (good separation)</a:t>
            </a:r>
          </a:p>
          <a:p/>
          <a:p>
            <a:pPr/>
            <a:r>
              <a:t>Five Distinct Clusters:</a:t>
            </a:r>
          </a:p>
          <a:p>
            <a:pPr lvl="1"/>
            <a:r>
              <a:t>• Cluster 0: Blockbuster action (moderate ratings)</a:t>
            </a:r>
          </a:p>
          <a:p>
            <a:pPr lvl="1"/>
            <a:r>
              <a:t>• Cluster 1: Indie dramas (high critical acclaim)</a:t>
            </a:r>
          </a:p>
          <a:p>
            <a:pPr lvl="1"/>
            <a:r>
              <a:t>• Cluster 2: Family comedies (broad appeal)</a:t>
            </a:r>
          </a:p>
          <a:p>
            <a:pPr lvl="1"/>
            <a:r>
              <a:t>• Cluster 3: Horror/Thriller (polarized opinions)</a:t>
            </a:r>
          </a:p>
          <a:p>
            <a:pPr lvl="1"/>
            <a:r>
              <a:t>• Cluster 4: Underperformers (low ratings)</a:t>
            </a:r>
          </a:p>
          <a:p/>
          <a:p>
            <a:pPr/>
            <a:r>
              <a:t>Business Value: Tailored marketing strategies per cluster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 Insights (Choropleth Maps)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Sentiment Analysis by Production Country:</a:t>
            </a:r>
          </a:p>
          <a:p/>
          <a:p>
            <a:pPr/>
            <a:r>
              <a:t>• United States: 0.65 sentiment (534 movies)</a:t>
            </a:r>
          </a:p>
          <a:p>
            <a:pPr/>
            <a:r>
              <a:t>• European average: 0.72 (notably higher!)</a:t>
            </a:r>
          </a:p>
          <a:p>
            <a:pPr/>
            <a:r>
              <a:t>• Asian markets: 0.61 (Action/Horror preference)</a:t>
            </a:r>
          </a:p>
          <a:p/>
          <a:p>
            <a:pPr>
              <a:defRPr b="1"/>
            </a:pPr>
            <a:r>
              <a:t>Key Insight:</a:t>
            </a:r>
          </a:p>
          <a:p>
            <a:pPr lvl="1"/>
            <a:r>
              <a:t>European films receive higher critical ratings on average</a:t>
            </a:r>
          </a:p>
          <a:p>
            <a:pPr lvl="1"/>
            <a:r>
              <a:t>Suggests cultural differences in filmmaking approaches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Dashboard (Optional 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Flask/Dash Web Application</a:t>
            </a:r>
          </a:p>
          <a:p/>
          <a:p>
            <a:pPr/>
            <a:r>
              <a:t>• Live sentiment prediction from text input</a:t>
            </a:r>
          </a:p>
          <a:p>
            <a:pPr/>
            <a:r>
              <a:t>• Score prediction (0-10 scale)</a:t>
            </a:r>
          </a:p>
          <a:p>
            <a:pPr/>
            <a:r>
              <a:t>• Top influential words (TF-IDF weights)</a:t>
            </a:r>
          </a:p>
          <a:p>
            <a:pPr/>
            <a:r>
              <a:t>• Database statistics overview</a:t>
            </a:r>
          </a:p>
          <a:p>
            <a:pPr/>
            <a:r>
              <a:t>• Interactive visualizations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Achievements:</a:t>
            </a:r>
          </a:p>
          <a:p>
            <a:pPr lvl="1"/>
            <a:r>
              <a:t>✓ Complete end-to-end pipeline (API → DB → NLP → ML)</a:t>
            </a:r>
          </a:p>
          <a:p>
            <a:pPr lvl="1"/>
            <a:r>
              <a:t>✓ Statistically validated results (all p &lt; 0.05)</a:t>
            </a:r>
          </a:p>
          <a:p>
            <a:pPr lvl="1"/>
            <a:r>
              <a:t>✓ Production-ready architecture</a:t>
            </a:r>
          </a:p>
          <a:p/>
          <a:p>
            <a:pPr/>
            <a:r>
              <a:t>Limitations:</a:t>
            </a:r>
          </a:p>
          <a:p>
            <a:pPr lvl="1"/>
            <a:r>
              <a:t>• English reviews only</a:t>
            </a:r>
          </a:p>
          <a:p>
            <a:pPr lvl="1"/>
            <a:r>
              <a:t>• TMDb platform bias</a:t>
            </a:r>
          </a:p>
          <a:p/>
          <a:p>
            <a:pPr/>
            <a:r>
              <a:t>Future Work:</a:t>
            </a:r>
          </a:p>
          <a:p>
            <a:pPr lvl="1"/>
            <a:r>
              <a:t>• BERT transformers for sentiment</a:t>
            </a:r>
          </a:p>
          <a:p>
            <a:pPr lvl="1"/>
            <a:r>
              <a:t>• Multi-language support</a:t>
            </a:r>
          </a:p>
          <a:p>
            <a:pPr lvl="1"/>
            <a:r>
              <a:t>• Real-time streaming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Points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requirements met (see appendix):</a:t>
            </a:r>
          </a:p>
          <a:p/>
          <a:p>
            <a:pPr>
              <a:defRPr b="1"/>
            </a:pPr>
            <a:r>
              <a:t>✓ PostgreSQL: Schema, Views, Indexes</a:t>
            </a:r>
          </a:p>
          <a:p>
            <a:pPr>
              <a:defRPr b="1"/>
            </a:pPr>
            <a:r>
              <a:t>✓ Geodata: Choropleth maps by country</a:t>
            </a:r>
          </a:p>
          <a:p>
            <a:pPr>
              <a:defRPr b="1"/>
            </a:pPr>
            <a:r>
              <a:t>✓ Statistical Tests: Chi², ANOVA, Pearson (p &lt; 0.05)</a:t>
            </a:r>
          </a:p>
          <a:p>
            <a:pPr>
              <a:defRPr b="1"/>
            </a:pPr>
            <a:r>
              <a:t>✓ K-means: Elbow plot, Silhouette score = 0.68</a:t>
            </a:r>
          </a:p>
          <a:p>
            <a:pPr>
              <a:defRPr b="1"/>
            </a:pPr>
            <a:r>
              <a:t>✓ Classification: Accuracy 82.3%, Confusion matrix</a:t>
            </a:r>
          </a:p>
          <a:p>
            <a:pPr>
              <a:defRPr b="1"/>
            </a:pPr>
            <a:r>
              <a:t>✓ Regression: R² = 0.64, Residual plots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Thank you for your attention!</a:t>
            </a:r>
          </a:p>
          <a:p>
            <a:r>
              <a:t>See appendix for detailed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